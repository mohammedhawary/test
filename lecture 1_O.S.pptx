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6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0" y="6400799"/>
            <a:ext cx="12192000" cy="444500"/>
          </a:xfrm>
          <a:custGeom>
            <a:avLst/>
            <a:gdLst>
              <a:gd name="connsiteX0" fmla="*/ 0 w 12192000"/>
              <a:gd name="connsiteY0" fmla="*/ 0 h 444500"/>
              <a:gd name="connsiteX1" fmla="*/ 12192000 w 12192000"/>
              <a:gd name="connsiteY1" fmla="*/ 0 h 444500"/>
              <a:gd name="connsiteX2" fmla="*/ 12192000 w 12192000"/>
              <a:gd name="connsiteY2" fmla="*/ 444500 h 444500"/>
              <a:gd name="connsiteX3" fmla="*/ 0 w 12192000"/>
              <a:gd name="connsiteY3" fmla="*/ 444500 h 444500"/>
              <a:gd name="connsiteX4" fmla="*/ 0 w 12192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444500">
                <a:moveTo>
                  <a:pt x="0" y="0"/>
                </a:moveTo>
                <a:lnTo>
                  <a:pt x="12192000" y="0"/>
                </a:lnTo>
                <a:lnTo>
                  <a:pt x="12192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92000" cy="67055"/>
          </a:xfrm>
          <a:custGeom>
            <a:avLst/>
            <a:gdLst>
              <a:gd name="connsiteX0" fmla="*/ 0 w 12192000"/>
              <a:gd name="connsiteY0" fmla="*/ 67055 h 67055"/>
              <a:gd name="connsiteX1" fmla="*/ 12192000 w 12192000"/>
              <a:gd name="connsiteY1" fmla="*/ 67055 h 67055"/>
              <a:gd name="connsiteX2" fmla="*/ 12192000 w 12192000"/>
              <a:gd name="connsiteY2" fmla="*/ 0 h 67055"/>
              <a:gd name="connsiteX3" fmla="*/ 0 w 12192000"/>
              <a:gd name="connsiteY3" fmla="*/ 0 h 67055"/>
              <a:gd name="connsiteX4" fmla="*/ 0 w 12192000"/>
              <a:gd name="connsiteY4" fmla="*/ 67055 h 670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7055">
                <a:moveTo>
                  <a:pt x="0" y="67055"/>
                </a:moveTo>
                <a:lnTo>
                  <a:pt x="12192000" y="67055"/>
                </a:lnTo>
                <a:lnTo>
                  <a:pt x="12192000" y="0"/>
                </a:lnTo>
                <a:lnTo>
                  <a:pt x="0" y="0"/>
                </a:lnTo>
                <a:lnTo>
                  <a:pt x="0" y="67055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200658" y="4337050"/>
            <a:ext cx="9888219" cy="18796"/>
          </a:xfrm>
          <a:custGeom>
            <a:avLst/>
            <a:gdLst>
              <a:gd name="connsiteX0" fmla="*/ 6350 w 9888219"/>
              <a:gd name="connsiteY0" fmla="*/ 6350 h 18796"/>
              <a:gd name="connsiteX1" fmla="*/ 9881870 w 988821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888219" h="18796">
                <a:moveTo>
                  <a:pt x="6350" y="6350"/>
                </a:moveTo>
                <a:lnTo>
                  <a:pt x="988187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79300" cy="47625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600200" y="4406900"/>
            <a:ext cx="6362700" cy="914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7200"/>
              </a:lnSpc>
              <a:tabLst/>
            </a:pPr>
            <a:r>
              <a:rPr lang="en-US" altLang="zh-CN" sz="7202" dirty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Operating</a:t>
            </a:r>
            <a:r>
              <a:rPr lang="en-US" altLang="zh-CN" sz="72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7202" dirty="0">
                <a:solidFill>
                  <a:srgbClr val="262626"/>
                </a:solidFill>
                <a:latin typeface="Calibri Light" pitchFamily="18" charset="0"/>
                <a:cs typeface="Calibri Light" pitchFamily="18" charset="0"/>
              </a:rPr>
              <a:t>System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600200" y="5422900"/>
            <a:ext cx="3543300" cy="34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795" dirty="0">
                <a:solidFill>
                  <a:srgbClr val="344068"/>
                </a:solidFill>
                <a:latin typeface="Calibri Light" pitchFamily="18" charset="0"/>
                <a:cs typeface="Calibri Light" pitchFamily="18" charset="0"/>
              </a:rPr>
              <a:t>LEC1: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344068"/>
                </a:solidFill>
                <a:latin typeface="Calibri Light" pitchFamily="18" charset="0"/>
                <a:cs typeface="Calibri Light" pitchFamily="18" charset="0"/>
              </a:rPr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00" y="1854200"/>
            <a:ext cx="3048000" cy="43561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81100" y="1092200"/>
            <a:ext cx="24003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48768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Topics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to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be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covered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92200" y="1917700"/>
            <a:ext cx="3581400" cy="1638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Introduction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6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Management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scheduling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Deadlocks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092200" y="3695700"/>
            <a:ext cx="2527300" cy="736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Management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092200" y="4584700"/>
            <a:ext cx="25908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0" y="6400799"/>
            <a:ext cx="12192000" cy="444500"/>
          </a:xfrm>
          <a:custGeom>
            <a:avLst/>
            <a:gdLst>
              <a:gd name="connsiteX0" fmla="*/ 0 w 12192000"/>
              <a:gd name="connsiteY0" fmla="*/ 0 h 444500"/>
              <a:gd name="connsiteX1" fmla="*/ 12192000 w 12192000"/>
              <a:gd name="connsiteY1" fmla="*/ 0 h 444500"/>
              <a:gd name="connsiteX2" fmla="*/ 12192000 w 12192000"/>
              <a:gd name="connsiteY2" fmla="*/ 444500 h 444500"/>
              <a:gd name="connsiteX3" fmla="*/ 0 w 12192000"/>
              <a:gd name="connsiteY3" fmla="*/ 444500 h 444500"/>
              <a:gd name="connsiteX4" fmla="*/ 0 w 12192000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444500">
                <a:moveTo>
                  <a:pt x="0" y="0"/>
                </a:moveTo>
                <a:lnTo>
                  <a:pt x="12192000" y="0"/>
                </a:lnTo>
                <a:lnTo>
                  <a:pt x="12192000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92000" cy="67055"/>
          </a:xfrm>
          <a:custGeom>
            <a:avLst/>
            <a:gdLst>
              <a:gd name="connsiteX0" fmla="*/ 0 w 12192000"/>
              <a:gd name="connsiteY0" fmla="*/ 67055 h 67055"/>
              <a:gd name="connsiteX1" fmla="*/ 12192000 w 12192000"/>
              <a:gd name="connsiteY1" fmla="*/ 67055 h 67055"/>
              <a:gd name="connsiteX2" fmla="*/ 12192000 w 12192000"/>
              <a:gd name="connsiteY2" fmla="*/ 0 h 67055"/>
              <a:gd name="connsiteX3" fmla="*/ 0 w 12192000"/>
              <a:gd name="connsiteY3" fmla="*/ 0 h 67055"/>
              <a:gd name="connsiteX4" fmla="*/ 0 w 12192000"/>
              <a:gd name="connsiteY4" fmla="*/ 67055 h 670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7055">
                <a:moveTo>
                  <a:pt x="0" y="67055"/>
                </a:moveTo>
                <a:lnTo>
                  <a:pt x="12192000" y="67055"/>
                </a:lnTo>
                <a:lnTo>
                  <a:pt x="12192000" y="0"/>
                </a:lnTo>
                <a:lnTo>
                  <a:pt x="0" y="0"/>
                </a:lnTo>
                <a:lnTo>
                  <a:pt x="0" y="67055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200658" y="4337050"/>
            <a:ext cx="9888219" cy="18796"/>
          </a:xfrm>
          <a:custGeom>
            <a:avLst/>
            <a:gdLst>
              <a:gd name="connsiteX0" fmla="*/ 6350 w 9888219"/>
              <a:gd name="connsiteY0" fmla="*/ 6350 h 18796"/>
              <a:gd name="connsiteX1" fmla="*/ 9881870 w 988821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888219" h="18796">
                <a:moveTo>
                  <a:pt x="6350" y="6350"/>
                </a:moveTo>
                <a:lnTo>
                  <a:pt x="988187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73700" y="1701800"/>
            <a:ext cx="5943600" cy="39624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003300" y="787400"/>
            <a:ext cx="6515100" cy="1841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7200"/>
              </a:lnSpc>
              <a:tabLst/>
            </a:pPr>
            <a:r>
              <a:rPr lang="en-US" altLang="zh-CN" sz="7202" dirty="0">
                <a:solidFill>
                  <a:srgbClr val="7182B8"/>
                </a:solidFill>
                <a:latin typeface="Calibri Light" pitchFamily="18" charset="0"/>
                <a:cs typeface="Calibri Light" pitchFamily="18" charset="0"/>
              </a:rPr>
              <a:t>What</a:t>
            </a:r>
            <a:r>
              <a:rPr lang="en-US" altLang="zh-CN" sz="72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7202" dirty="0">
                <a:solidFill>
                  <a:srgbClr val="7182B8"/>
                </a:solidFill>
                <a:latin typeface="Calibri Light" pitchFamily="18" charset="0"/>
                <a:cs typeface="Calibri Light" pitchFamily="18" charset="0"/>
              </a:rPr>
              <a:t>is</a:t>
            </a:r>
            <a:r>
              <a:rPr lang="en-US" altLang="zh-CN" sz="72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7202" dirty="0">
                <a:solidFill>
                  <a:srgbClr val="7182B8"/>
                </a:solidFill>
                <a:latin typeface="Calibri Light" pitchFamily="18" charset="0"/>
                <a:cs typeface="Calibri Light" pitchFamily="18" charset="0"/>
              </a:rPr>
              <a:t>Operating</a:t>
            </a:r>
          </a:p>
          <a:p>
            <a:pPr>
              <a:lnSpc>
                <a:spcPts val="7300"/>
              </a:lnSpc>
              <a:tabLst/>
            </a:pPr>
            <a:r>
              <a:rPr lang="en-US" altLang="zh-CN" sz="7202" dirty="0">
                <a:solidFill>
                  <a:srgbClr val="7182B8"/>
                </a:solidFill>
                <a:latin typeface="Calibri Light" pitchFamily="18" charset="0"/>
                <a:cs typeface="Calibri Light" pitchFamily="18" charset="0"/>
              </a:rPr>
              <a:t>System?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15240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71374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What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is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an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Operating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System?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92200" y="1879600"/>
            <a:ext cx="93091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acts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intermediary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181100" y="2184400"/>
            <a:ext cx="9779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hardware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092200" y="2603500"/>
            <a:ext cx="27051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goals: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295400" y="2946400"/>
            <a:ext cx="5943600" cy="901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make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solving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problems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easier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Make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convenient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hardware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efficient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manner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092200" y="4038600"/>
            <a:ext cx="7467600" cy="736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MS PGothic" pitchFamily="18" charset="0"/>
                <a:cs typeface="MS PGothic" pitchFamily="18" charset="0"/>
              </a:rPr>
              <a:t>“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running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times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2004" dirty="0">
                <a:solidFill>
                  <a:srgbClr val="404040"/>
                </a:solidFill>
                <a:latin typeface="MS PGothic" pitchFamily="18" charset="0"/>
                <a:cs typeface="MS PGothic" pitchFamily="18" charset="0"/>
              </a:rPr>
              <a:t>”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kernel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Everything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else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either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295400" y="4813300"/>
            <a:ext cx="5321300" cy="584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(ships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system)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application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336547" y="854963"/>
            <a:ext cx="9574910" cy="30480"/>
          </a:xfrm>
          <a:custGeom>
            <a:avLst/>
            <a:gdLst>
              <a:gd name="connsiteX0" fmla="*/ 7619 w 9574910"/>
              <a:gd name="connsiteY0" fmla="*/ 7619 h 30480"/>
              <a:gd name="connsiteX1" fmla="*/ 9567291 w 9574910"/>
              <a:gd name="connsiteY1" fmla="*/ 7619 h 3048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574910" h="30480">
                <a:moveTo>
                  <a:pt x="7619" y="7619"/>
                </a:moveTo>
                <a:lnTo>
                  <a:pt x="9567291" y="7619"/>
                </a:lnTo>
              </a:path>
            </a:pathLst>
          </a:custGeom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9900" y="1041400"/>
            <a:ext cx="6388100" cy="50927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612900" y="279400"/>
            <a:ext cx="5892800" cy="533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200"/>
              </a:lnSpc>
              <a:tabLst/>
            </a:pPr>
            <a:r>
              <a:rPr lang="en-US" altLang="zh-CN" sz="4295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ComputerSystem</a:t>
            </a:r>
            <a:r>
              <a:rPr lang="en-US" altLang="zh-CN" sz="42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5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2260600"/>
            <a:ext cx="5651500" cy="33274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81100" y="1092200"/>
            <a:ext cx="66040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Computer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System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Structure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6832600" y="4762500"/>
            <a:ext cx="3302000" cy="774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457200" algn="l"/>
              </a:tabLst>
            </a:pP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provides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basic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computing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resources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300"/>
              </a:lnSpc>
              <a:tabLst>
                <a:tab pos="457200" algn="l"/>
              </a:tabLst>
            </a:pPr>
            <a:r>
              <a:rPr lang="en-US" altLang="zh-CN" dirty="0"/>
              <a:t>	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CPU,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memory,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devices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2260600"/>
            <a:ext cx="5651500" cy="33274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81100" y="1092200"/>
            <a:ext cx="66040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Computer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System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Structure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6832600" y="4787900"/>
            <a:ext cx="4699000" cy="1320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457200" algn="l"/>
              </a:tabLst>
            </a:pP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define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ways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resources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are</a:t>
            </a:r>
          </a:p>
          <a:p>
            <a:pPr>
              <a:lnSpc>
                <a:spcPts val="2100"/>
              </a:lnSpc>
              <a:tabLst>
                <a:tab pos="457200" algn="l"/>
              </a:tabLst>
            </a:pP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used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solve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computing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problems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users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300"/>
              </a:lnSpc>
              <a:tabLst>
                <a:tab pos="457200" algn="l"/>
              </a:tabLst>
            </a:pPr>
            <a:r>
              <a:rPr lang="en-US" altLang="zh-CN" dirty="0"/>
              <a:t>	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Word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processors,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compilers,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web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browsers,</a:t>
            </a:r>
          </a:p>
          <a:p>
            <a:pPr>
              <a:lnSpc>
                <a:spcPts val="2100"/>
              </a:lnSpc>
              <a:tabLst>
                <a:tab pos="457200" algn="l"/>
              </a:tabLst>
            </a:pPr>
            <a:r>
              <a:rPr lang="en-US" altLang="zh-CN" dirty="0"/>
              <a:t>	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database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systems,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video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games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" y="2260600"/>
            <a:ext cx="6464300" cy="33274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81100" y="1092200"/>
            <a:ext cx="66040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Computer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System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Structure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7289800" y="4749800"/>
            <a:ext cx="3289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People,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machines,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other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computers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0" y="1943100"/>
            <a:ext cx="6642100" cy="36576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81100" y="1092200"/>
            <a:ext cx="90297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Dynamic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View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of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System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2006600"/>
            <a:ext cx="190500" cy="3416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181100" y="1219200"/>
            <a:ext cx="9271000" cy="4229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14300" algn="l"/>
              </a:tabLst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2000" y="3314700"/>
            <a:ext cx="3568700" cy="24257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38200" y="2006600"/>
            <a:ext cx="190500" cy="3530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28700" y="1219200"/>
            <a:ext cx="9423400" cy="4330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must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able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load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program.</a:t>
            </a:r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sz="18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must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able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end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execution,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either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normally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abnormally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(indicating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error).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1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1200" y="3492500"/>
            <a:ext cx="3454400" cy="26416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38200" y="2019300"/>
            <a:ext cx="190500" cy="3848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28700" y="1231900"/>
            <a:ext cx="9423400" cy="4660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running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require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involve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device.</a:t>
            </a:r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efficiency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usually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cannot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directly.</a:t>
            </a:r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Therefore,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must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provide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means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1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500" y="4102100"/>
            <a:ext cx="4241800" cy="21082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38200" y="2019300"/>
            <a:ext cx="190500" cy="410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28700" y="1244600"/>
            <a:ext cx="9994900" cy="4902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read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write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directories.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also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create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delete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name,</a:t>
            </a:r>
          </a:p>
          <a:p>
            <a:pPr>
              <a:lnSpc>
                <a:spcPts val="1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search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given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list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information.</a:t>
            </a:r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some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include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permissions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management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allow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deny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access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directories</a:t>
            </a:r>
          </a:p>
          <a:p>
            <a:pPr>
              <a:lnSpc>
                <a:spcPts val="1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based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ownership.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59600" y="4470400"/>
            <a:ext cx="3505200" cy="18542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38200" y="2019300"/>
            <a:ext cx="190500" cy="4051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8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28700" y="1244600"/>
            <a:ext cx="10096500" cy="4864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exchange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information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another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process.</a:t>
            </a:r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occur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same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</a:t>
            </a:r>
          </a:p>
          <a:p>
            <a:pPr>
              <a:lnSpc>
                <a:spcPts val="1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different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together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network.</a:t>
            </a:r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sz="18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may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implemented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via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shared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,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two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processes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read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write</a:t>
            </a:r>
          </a:p>
          <a:p>
            <a:pPr>
              <a:lnSpc>
                <a:spcPts val="1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message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passing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packets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information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predefined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formats</a:t>
            </a:r>
          </a:p>
          <a:p>
            <a:pPr>
              <a:lnSpc>
                <a:spcPts val="1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moved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system.</a:t>
            </a:r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07500" y="1993900"/>
            <a:ext cx="1714500" cy="1612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38200" y="2006600"/>
            <a:ext cx="190500" cy="4254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21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21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21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21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7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21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21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28700" y="1244600"/>
            <a:ext cx="10198100" cy="5029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needs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correcting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constantly.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occur: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</a:t>
            </a:r>
            <a:r>
              <a:rPr lang="en-US" altLang="zh-CN" sz="1403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hardware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(such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power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failure),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</a:t>
            </a:r>
            <a:r>
              <a:rPr lang="en-US" altLang="zh-CN" sz="1596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(such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parity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disk,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connection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failure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network,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lack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paper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printer),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</a:t>
            </a:r>
            <a:r>
              <a:rPr lang="en-US" altLang="zh-CN" sz="1596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(such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arithmetic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overflow,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attempt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access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illegal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location,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too-great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</a:t>
            </a:r>
          </a:p>
          <a:p>
            <a:pPr>
              <a:lnSpc>
                <a:spcPts val="15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	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time).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type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should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take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appropriate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ensure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correct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</a:p>
          <a:p>
            <a:pPr>
              <a:lnSpc>
                <a:spcPts val="17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consistent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computing.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16900" y="1981200"/>
            <a:ext cx="2501900" cy="18796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38200" y="2019300"/>
            <a:ext cx="190500" cy="3771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28700" y="1231900"/>
            <a:ext cx="9880600" cy="4584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When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multiple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multiple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running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same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time,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must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</a:p>
          <a:p>
            <a:pPr>
              <a:lnSpc>
                <a:spcPts val="1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them.</a:t>
            </a:r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manages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different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types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resources.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1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</a:tabLst>
            </a:pPr>
            <a:r>
              <a:rPr lang="en-US" altLang="zh-CN" dirty="0"/>
              <a:t>	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75700" y="2552700"/>
            <a:ext cx="1930400" cy="18415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38200" y="2006600"/>
            <a:ext cx="190500" cy="373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1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28700" y="1231900"/>
            <a:ext cx="9423400" cy="4546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2667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want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keep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track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how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what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kinds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resources.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700"/>
              </a:lnSpc>
              <a:tabLst>
                <a:tab pos="152400" algn="l"/>
                <a:tab pos="266700" algn="l"/>
              </a:tabLst>
            </a:pPr>
            <a:r>
              <a:rPr lang="en-US" altLang="zh-CN" dirty="0"/>
              <a:t>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96200" y="2387600"/>
            <a:ext cx="2006600" cy="21082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38200" y="1981200"/>
            <a:ext cx="190500" cy="288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1.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2.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3.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4.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5.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6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6.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7.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004" b="1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8.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28700" y="1257300"/>
            <a:ext cx="9766300" cy="5118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ServicesProvidedbyOperatingSystems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File-system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manipulation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Error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allocation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Accounting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9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involves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ensuring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access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controlled.</a:t>
            </a:r>
          </a:p>
          <a:p>
            <a:pPr>
              <a:lnSpc>
                <a:spcPts val="25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Security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outsiders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also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important.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</a:t>
            </a:r>
            <a:r>
              <a:rPr lang="en-US" altLang="zh-CN" sz="1598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authenticatehimself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herself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gain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access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resources.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extends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</a:p>
          <a:p>
            <a:pPr>
              <a:lnSpc>
                <a:spcPts val="23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</a:t>
            </a:r>
            <a:r>
              <a:rPr lang="en-US" altLang="zh-CN" sz="1596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defending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external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devices,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including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network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adapters,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invalid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access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attempts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recording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such</a:t>
            </a:r>
          </a:p>
          <a:p>
            <a:pPr>
              <a:lnSpc>
                <a:spcPts val="1700"/>
              </a:lnSpc>
              <a:tabLst>
                <a:tab pos="152400" algn="l"/>
                <a:tab pos="190500" algn="l"/>
                <a:tab pos="266700" algn="l"/>
                <a:tab pos="368300" algn="l"/>
              </a:tabLst>
            </a:pPr>
            <a:r>
              <a:rPr lang="en-US" altLang="zh-CN" dirty="0"/>
              <a:t>				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connections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detection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break-ins.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45212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Historical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overview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92200" y="1866900"/>
            <a:ext cx="8712200" cy="406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200"/>
              </a:lnSpc>
              <a:tabLst/>
            </a:pPr>
            <a:r>
              <a:rPr lang="en-US" altLang="zh-CN" sz="2795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Mainframe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system: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first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used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tackle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many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181100" y="2311400"/>
            <a:ext cx="5461000" cy="34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commercial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scientific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applications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295400" y="2692400"/>
            <a:ext cx="1981200" cy="34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4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Batch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295400" y="3111500"/>
            <a:ext cx="3556000" cy="749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4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Multiprogrammed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</a:p>
          <a:p>
            <a:pPr>
              <a:lnSpc>
                <a:spcPts val="3100"/>
              </a:lnSpc>
              <a:tabLst/>
            </a:pPr>
            <a:r>
              <a:rPr lang="en-US" altLang="zh-CN" sz="24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Time-Sharing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092200" y="4038600"/>
            <a:ext cx="4318000" cy="406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200"/>
              </a:lnSpc>
              <a:tabLst/>
            </a:pPr>
            <a:r>
              <a:rPr lang="en-US" altLang="zh-CN" sz="2795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Personal-Computer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092200" y="4610100"/>
            <a:ext cx="6146800" cy="965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200"/>
              </a:lnSpc>
              <a:tabLst/>
            </a:pPr>
            <a:r>
              <a:rPr lang="en-US" altLang="zh-CN" sz="2795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Multiprocessor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(parallel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system)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3400"/>
              </a:lnSpc>
              <a:tabLst/>
            </a:pPr>
            <a:r>
              <a:rPr lang="en-US" altLang="zh-CN" sz="2798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Distributed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1866900"/>
            <a:ext cx="5715000" cy="45593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81100" y="1092200"/>
            <a:ext cx="44323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Mainframe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130300"/>
            <a:ext cx="4521200" cy="1473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14300" algn="l"/>
              </a:tabLst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Historical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overview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3300"/>
              </a:lnSpc>
              <a:tabLst>
                <a:tab pos="114300" algn="l"/>
              </a:tabLst>
            </a:pP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Mainframe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system:</a:t>
            </a:r>
          </a:p>
          <a:p>
            <a:pPr>
              <a:lnSpc>
                <a:spcPts val="2500"/>
              </a:lnSpc>
              <a:tabLst>
                <a:tab pos="114300" algn="l"/>
              </a:tabLst>
            </a:pPr>
            <a:r>
              <a:rPr lang="en-US" altLang="zh-CN" dirty="0"/>
              <a:t>	</a:t>
            </a: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Batch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systems: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473200" y="2667000"/>
            <a:ext cx="76200" cy="1409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8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663700" y="2667000"/>
            <a:ext cx="9359900" cy="1625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Physically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enormous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machines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console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input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card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readers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tape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drivers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output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were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line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printers,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tape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drivers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card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punches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didn’t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interact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directly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prepared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form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punch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cards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(program,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information)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submit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</a:p>
          <a:p>
            <a:pPr>
              <a:lnSpc>
                <a:spcPts val="1700"/>
              </a:lnSpc>
              <a:tabLst/>
            </a:pP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operator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473200" y="4356100"/>
            <a:ext cx="9512300" cy="12573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>
                <a:tab pos="1905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output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consists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results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dump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final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register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</a:p>
          <a:p>
            <a:pPr>
              <a:lnSpc>
                <a:spcPts val="1700"/>
              </a:lnSpc>
              <a:tabLst>
                <a:tab pos="190500" algn="l"/>
              </a:tabLst>
            </a:pPr>
            <a:r>
              <a:rPr lang="en-US" altLang="zh-CN" dirty="0"/>
              <a:t>	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debugging</a:t>
            </a:r>
          </a:p>
          <a:p>
            <a:pPr>
              <a:lnSpc>
                <a:spcPts val="2300"/>
              </a:lnSpc>
              <a:tabLst>
                <a:tab pos="1905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was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simple,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transfer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automatically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another.</a:t>
            </a:r>
          </a:p>
          <a:p>
            <a:pPr>
              <a:lnSpc>
                <a:spcPts val="2300"/>
              </a:lnSpc>
              <a:tabLst>
                <a:tab pos="190500" algn="l"/>
              </a:tabLst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speed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up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operators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batched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together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similar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needs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through</a:t>
            </a:r>
          </a:p>
          <a:p>
            <a:pPr>
              <a:lnSpc>
                <a:spcPts val="1700"/>
              </a:lnSpc>
              <a:tabLst>
                <a:tab pos="190500" algn="l"/>
              </a:tabLst>
            </a:pPr>
            <a:r>
              <a:rPr lang="en-US" altLang="zh-CN" dirty="0"/>
              <a:t>	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group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1500" y="1689100"/>
            <a:ext cx="7569200" cy="345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68800" y="1676400"/>
            <a:ext cx="2590800" cy="46736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81100" y="495300"/>
            <a:ext cx="8216900" cy="1219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0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MemoryLayout</a:t>
            </a:r>
            <a:r>
              <a:rPr lang="en-US" altLang="zh-CN" sz="4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0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for</a:t>
            </a:r>
            <a:r>
              <a:rPr lang="en-US" altLang="zh-CN" sz="4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0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</a:t>
            </a:r>
            <a:r>
              <a:rPr lang="en-US" altLang="zh-CN" sz="4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0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Simple</a:t>
            </a:r>
            <a:r>
              <a:rPr lang="en-US" altLang="zh-CN" sz="4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0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Batch</a:t>
            </a:r>
          </a:p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45212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Historical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overview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181100" y="1917700"/>
            <a:ext cx="2768600" cy="34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Mainframe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system: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95400" y="2349500"/>
            <a:ext cx="3581400" cy="30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/>
            </a:pPr>
            <a:r>
              <a:rPr lang="en-US" altLang="zh-CN" sz="24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Multiprogrammed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systems: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473200" y="2755900"/>
            <a:ext cx="9410700" cy="546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Several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kept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same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time,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multiplexed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among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them.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picks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begins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waits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663700" y="3314700"/>
            <a:ext cx="70866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some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task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(ex: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operations)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switches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another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2900" y="0"/>
            <a:ext cx="9194800" cy="1778000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2900" y="1905000"/>
            <a:ext cx="9194800" cy="424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5700" y="2070100"/>
            <a:ext cx="2540000" cy="4025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927100" y="1104900"/>
            <a:ext cx="10109200" cy="533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200"/>
              </a:lnSpc>
              <a:tabLst/>
            </a:pPr>
            <a:r>
              <a:rPr lang="en-US" altLang="zh-CN" sz="4298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M</a:t>
            </a:r>
            <a:r>
              <a:rPr lang="en-US" altLang="zh-CN" sz="42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8" u="sng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emory Layout for Multiprogrammed Systems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45212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Historical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overview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181100" y="1917700"/>
            <a:ext cx="2768600" cy="34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Mainframe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system: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95400" y="2349500"/>
            <a:ext cx="2959100" cy="30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/>
            </a:pPr>
            <a:r>
              <a:rPr lang="en-US" altLang="zh-CN" sz="24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Time-Sharing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Systems: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473200" y="2755900"/>
            <a:ext cx="39370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logical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extension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multiprogramming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473200" y="3073400"/>
            <a:ext cx="92964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multiple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jobs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switching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among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them,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but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switch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occur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frequently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663700" y="3314700"/>
            <a:ext cx="50419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interact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while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running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473200" y="3657600"/>
            <a:ext cx="9105900" cy="546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provides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direct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mouse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keyboard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allows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than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simultaneously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524000"/>
            <a:ext cx="9169400" cy="3238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83600" y="4114800"/>
            <a:ext cx="3492500" cy="25019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762000" y="1104900"/>
            <a:ext cx="4940300" cy="1028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4191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Historical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overview</a:t>
            </a:r>
          </a:p>
          <a:p>
            <a:pPr>
              <a:lnSpc>
                <a:spcPts val="3300"/>
              </a:lnSpc>
              <a:tabLst>
                <a:tab pos="419100" algn="l"/>
              </a:tabLst>
            </a:pPr>
            <a:r>
              <a:rPr lang="en-US" altLang="zh-CN" sz="24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Personal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computers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863600" y="2222500"/>
            <a:ext cx="88900" cy="1409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198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054100" y="2235200"/>
            <a:ext cx="9969500" cy="17145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dedicated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single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keyboards,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mice,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display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screens,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small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printers.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User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convenience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responsiveness.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adopt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technology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developed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larger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system’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often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individuals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have</a:t>
            </a:r>
            <a:r>
              <a:rPr lang="en-US" altLang="zh-CN" sz="21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sole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do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need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advanced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utilization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protection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features.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45212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Historical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overview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181100" y="1917700"/>
            <a:ext cx="5029200" cy="30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/>
            </a:pP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Multiprocessor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(parallel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system)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95400" y="2311400"/>
            <a:ext cx="9131300" cy="647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Multiprocessor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than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close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communication.</a:t>
            </a:r>
          </a:p>
          <a:p>
            <a:pPr>
              <a:lnSpc>
                <a:spcPts val="2900"/>
              </a:lnSpc>
              <a:tabLst/>
            </a:pP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Tightly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coupled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clock;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473200" y="2971800"/>
            <a:ext cx="5410200" cy="266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usually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takes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place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through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shared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memory.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295400" y="3352800"/>
            <a:ext cx="3606800" cy="266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100"/>
              </a:lnSpc>
              <a:tabLst/>
            </a:pP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Advantages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parallel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system: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473200" y="3721100"/>
            <a:ext cx="50927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Increased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throughput: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work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done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less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time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473200" y="4051300"/>
            <a:ext cx="96647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Economical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: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save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money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than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multiple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single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they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share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peripherals,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mass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1663700" y="4292600"/>
            <a:ext cx="17780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power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supplies</a:t>
            </a:r>
          </a:p>
        </p:txBody>
      </p:sp>
      <p:sp>
        <p:nvSpPr>
          <p:cNvPr id="14" name="TextBox 1"/>
          <p:cNvSpPr txBox="1"/>
          <p:nvPr/>
        </p:nvSpPr>
        <p:spPr>
          <a:xfrm>
            <a:off x="1473200" y="4622800"/>
            <a:ext cx="65151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Increased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reliability: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failure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will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halt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45212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Historical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overview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181100" y="1917700"/>
            <a:ext cx="5029200" cy="30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/>
            </a:pP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Multiprocessor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(parallel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system)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95400" y="2298700"/>
            <a:ext cx="4305300" cy="30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/>
            </a:pPr>
            <a:r>
              <a:rPr lang="en-US" altLang="zh-CN" sz="24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Symmetric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multiprocessing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(SMP)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727200" y="2717800"/>
            <a:ext cx="6578600" cy="863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identical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copy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system.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run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once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without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performance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deterioration.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Most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modern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support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SMP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295400" y="3670300"/>
            <a:ext cx="3657600" cy="30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/>
            </a:pPr>
            <a:r>
              <a:rPr lang="en-US" altLang="zh-CN" sz="24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Asymmetric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multiprocessing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727200" y="4064000"/>
            <a:ext cx="92456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assigned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specific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task;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master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schedules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allocates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work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slave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968500" y="4318000"/>
            <a:ext cx="10414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processors.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1727200" y="4635500"/>
            <a:ext cx="41148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extremely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large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9500" y="2654300"/>
            <a:ext cx="7493000" cy="19304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028700" y="850900"/>
            <a:ext cx="8547100" cy="533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200"/>
              </a:lnSpc>
              <a:tabLst/>
            </a:pPr>
            <a:r>
              <a:rPr lang="en-US" altLang="zh-CN" sz="4298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Symmetric</a:t>
            </a:r>
            <a:r>
              <a:rPr lang="en-US" altLang="zh-CN" sz="42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8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Multiprocessing</a:t>
            </a:r>
            <a:r>
              <a:rPr lang="en-US" altLang="zh-CN" sz="42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298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Architecture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168400"/>
            <a:ext cx="9829800" cy="284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114300" algn="l"/>
                <a:tab pos="292100" algn="l"/>
              </a:tabLst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Historical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overview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3100"/>
              </a:lnSpc>
              <a:tabLst>
                <a:tab pos="114300" algn="l"/>
                <a:tab pos="292100" algn="l"/>
              </a:tabLst>
            </a:pP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Distributed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</a:p>
          <a:p>
            <a:pPr>
              <a:lnSpc>
                <a:spcPts val="2700"/>
              </a:lnSpc>
              <a:tabLst>
                <a:tab pos="114300" algn="l"/>
                <a:tab pos="292100" algn="l"/>
              </a:tabLst>
            </a:pPr>
            <a:r>
              <a:rPr lang="en-US" altLang="zh-CN" dirty="0"/>
              <a:t>	</a:t>
            </a: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Distribute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computation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among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several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physical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processors.</a:t>
            </a:r>
          </a:p>
          <a:p>
            <a:pPr>
              <a:lnSpc>
                <a:spcPts val="2900"/>
              </a:lnSpc>
              <a:tabLst>
                <a:tab pos="114300" algn="l"/>
                <a:tab pos="292100" algn="l"/>
              </a:tabLst>
            </a:pPr>
            <a:r>
              <a:rPr lang="en-US" altLang="zh-CN" dirty="0"/>
              <a:t>	</a:t>
            </a: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Loosely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coupled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i="1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own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local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memory;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processors</a:t>
            </a:r>
          </a:p>
          <a:p>
            <a:pPr>
              <a:lnSpc>
                <a:spcPts val="2300"/>
              </a:lnSpc>
              <a:tabLst>
                <a:tab pos="114300" algn="l"/>
                <a:tab pos="292100" algn="l"/>
              </a:tabLst>
            </a:pPr>
            <a:r>
              <a:rPr lang="en-US" altLang="zh-CN" dirty="0"/>
              <a:t>		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another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through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various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lines,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such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high-</a:t>
            </a:r>
          </a:p>
          <a:p>
            <a:pPr>
              <a:lnSpc>
                <a:spcPts val="2300"/>
              </a:lnSpc>
              <a:tabLst>
                <a:tab pos="114300" algn="l"/>
                <a:tab pos="292100" algn="l"/>
              </a:tabLst>
            </a:pPr>
            <a:r>
              <a:rPr lang="en-US" altLang="zh-CN" dirty="0"/>
              <a:t>		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speed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buses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telephone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lines.</a:t>
            </a:r>
          </a:p>
          <a:p>
            <a:pPr>
              <a:lnSpc>
                <a:spcPts val="2900"/>
              </a:lnSpc>
              <a:tabLst>
                <a:tab pos="114300" algn="l"/>
                <a:tab pos="292100" algn="l"/>
              </a:tabLst>
            </a:pPr>
            <a:r>
              <a:rPr lang="en-US" altLang="zh-CN" dirty="0"/>
              <a:t>	</a:t>
            </a:r>
            <a:r>
              <a:rPr lang="en-US" altLang="zh-CN" sz="2195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Advantages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distributed</a:t>
            </a:r>
            <a:r>
              <a:rPr lang="en-US" altLang="zh-CN" sz="2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1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systems.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473200" y="4064000"/>
            <a:ext cx="76200" cy="119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663700" y="4064000"/>
            <a:ext cx="3467100" cy="1193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Resources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Sharing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Computation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speed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up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load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sharing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Reliability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Communications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4700" y="3238500"/>
            <a:ext cx="6083300" cy="30226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181100" y="1092200"/>
            <a:ext cx="73914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Computer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System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Organization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181100" y="1905000"/>
            <a:ext cx="28956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Computer-system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95400" y="2247900"/>
            <a:ext cx="9829800" cy="546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CPUs,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controllers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connect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through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common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bus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providing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access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shared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2" dirty="0">
                <a:solidFill>
                  <a:srgbClr val="1CADE4"/>
                </a:solidFill>
                <a:latin typeface="Calibri" pitchFamily="18" charset="0"/>
                <a:cs typeface="Calibri" pitchFamily="18" charset="0"/>
              </a:rPr>
              <a:t>◦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Concurrent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execution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devices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competing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1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cycles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68453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Computer-System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Operation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92200" y="1879600"/>
            <a:ext cx="53340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execute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concurrently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092200" y="2336800"/>
            <a:ext cx="6426200" cy="736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6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controller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charge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particular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200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type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controller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local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buffer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092200" y="3251200"/>
            <a:ext cx="6438900" cy="736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moves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from/to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to/from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local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buffers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local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buffer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controller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092200" y="4140200"/>
            <a:ext cx="90551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controller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finished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causing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FF"/>
                </a:solidFill>
                <a:latin typeface="Calibri" pitchFamily="18" charset="0"/>
                <a:cs typeface="Calibri" pitchFamily="18" charset="0"/>
              </a:rPr>
              <a:t>interrupt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77978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Common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Functions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of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Interrupts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92200" y="1879600"/>
            <a:ext cx="94742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Interrupt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transfers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interrupt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service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routine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generally,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through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interrupt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181100" y="2184400"/>
            <a:ext cx="64643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vector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,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contains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addresses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all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service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routines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092200" y="2616200"/>
            <a:ext cx="7886700" cy="736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Interrupt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architecture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must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save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address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interrupted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instruction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Hardware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trigger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interrupt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time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sending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signal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CPU.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092200" y="3505200"/>
            <a:ext cx="88265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Software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may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trigger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interrupt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executing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special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operation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called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00000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system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call.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3"/>
          <p:cNvSpPr/>
          <p:nvPr/>
        </p:nvSpPr>
        <p:spPr>
          <a:xfrm>
            <a:off x="9267190" y="1249425"/>
            <a:ext cx="2577592" cy="4948935"/>
          </a:xfrm>
          <a:custGeom>
            <a:avLst/>
            <a:gdLst>
              <a:gd name="connsiteX0" fmla="*/ 6350 w 2577592"/>
              <a:gd name="connsiteY0" fmla="*/ 4942586 h 4948935"/>
              <a:gd name="connsiteX1" fmla="*/ 2571241 w 2577592"/>
              <a:gd name="connsiteY1" fmla="*/ 4942586 h 4948935"/>
              <a:gd name="connsiteX2" fmla="*/ 2571241 w 2577592"/>
              <a:gd name="connsiteY2" fmla="*/ 6350 h 4948935"/>
              <a:gd name="connsiteX3" fmla="*/ 6350 w 2577592"/>
              <a:gd name="connsiteY3" fmla="*/ 6350 h 4948935"/>
              <a:gd name="connsiteX4" fmla="*/ 6350 w 2577592"/>
              <a:gd name="connsiteY4" fmla="*/ 4942586 h 494893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2577592" h="4948935">
                <a:moveTo>
                  <a:pt x="6350" y="4942586"/>
                </a:moveTo>
                <a:lnTo>
                  <a:pt x="2571241" y="4942586"/>
                </a:lnTo>
                <a:lnTo>
                  <a:pt x="2571241" y="6350"/>
                </a:lnTo>
                <a:lnTo>
                  <a:pt x="6350" y="6350"/>
                </a:lnTo>
                <a:lnTo>
                  <a:pt x="6350" y="4942586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71000" y="1244600"/>
            <a:ext cx="2578100" cy="49530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092200" y="1168400"/>
            <a:ext cx="7759700" cy="2705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>
                <a:tab pos="88900" algn="l"/>
                <a:tab pos="342900" algn="l"/>
              </a:tabLst>
            </a:pPr>
            <a:r>
              <a:rPr lang="en-US" altLang="zh-CN" dirty="0"/>
              <a:t>	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Digital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Data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Representation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3500"/>
              </a:lnSpc>
              <a:tabLst>
                <a:tab pos="88900" algn="l"/>
                <a:tab pos="342900" algn="l"/>
              </a:tabLst>
            </a:pPr>
            <a:r>
              <a:rPr lang="en-US" altLang="zh-CN" sz="2795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795" b="1" dirty="0">
                <a:solidFill>
                  <a:srgbClr val="0033CC"/>
                </a:solidFill>
                <a:latin typeface="Calibri" pitchFamily="18" charset="0"/>
                <a:cs typeface="Calibri" pitchFamily="18" charset="0"/>
              </a:rPr>
              <a:t>Bit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: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smallest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unit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binary</a:t>
            </a:r>
          </a:p>
          <a:p>
            <a:pPr>
              <a:lnSpc>
                <a:spcPts val="3000"/>
              </a:lnSpc>
              <a:tabLst>
                <a:tab pos="88900" algn="l"/>
                <a:tab pos="342900" algn="l"/>
              </a:tabLst>
            </a:pPr>
            <a:r>
              <a:rPr lang="en-US" altLang="zh-CN" dirty="0"/>
              <a:t>		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recognize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(a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single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1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0)</a:t>
            </a:r>
          </a:p>
          <a:p>
            <a:pPr>
              <a:lnSpc>
                <a:spcPts val="3200"/>
              </a:lnSpc>
              <a:tabLst>
                <a:tab pos="88900" algn="l"/>
                <a:tab pos="342900" algn="l"/>
              </a:tabLst>
            </a:pPr>
            <a:r>
              <a:rPr lang="en-US" altLang="zh-CN" sz="24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33CC"/>
                </a:solidFill>
                <a:latin typeface="Calibri" pitchFamily="18" charset="0"/>
                <a:cs typeface="Calibri" pitchFamily="18" charset="0"/>
              </a:rPr>
              <a:t>Byte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=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8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bits</a:t>
            </a:r>
          </a:p>
          <a:p>
            <a:pPr>
              <a:lnSpc>
                <a:spcPts val="3100"/>
              </a:lnSpc>
              <a:tabLst>
                <a:tab pos="88900" algn="l"/>
                <a:tab pos="342900" algn="l"/>
              </a:tabLst>
            </a:pPr>
            <a:r>
              <a:rPr lang="en-US" altLang="zh-CN" sz="24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Byte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terminology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used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express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size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documents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</a:p>
          <a:p>
            <a:pPr>
              <a:lnSpc>
                <a:spcPts val="2500"/>
              </a:lnSpc>
              <a:tabLst>
                <a:tab pos="88900" algn="l"/>
                <a:tab pos="342900" algn="l"/>
              </a:tabLst>
            </a:pPr>
            <a:r>
              <a:rPr lang="en-US" altLang="zh-CN" dirty="0"/>
              <a:t>		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other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files,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programs,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etc.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0947400" y="6629400"/>
            <a:ext cx="165100" cy="139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100"/>
              </a:lnSpc>
              <a:tabLst/>
            </a:pPr>
            <a:r>
              <a:rPr lang="en-US" altLang="zh-CN" sz="12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35700" y="2273300"/>
            <a:ext cx="5956300" cy="4508500"/>
          </a:xfrm>
          <a:prstGeom prst="rect">
            <a:avLst/>
          </a:prstGeom>
          <a:noFill/>
        </p:spPr>
      </p:pic>
      <p:graphicFrame>
        <p:nvGraphicFramePr>
          <p:cNvPr id="7" name="表格 4"/>
          <p:cNvGraphicFramePr>
            <a:graphicFrameLocks noGrp="1"/>
          </p:cNvGraphicFramePr>
          <p:nvPr/>
        </p:nvGraphicFramePr>
        <p:xfrm>
          <a:off x="257149" y="3380613"/>
          <a:ext cx="6223152" cy="2801620"/>
        </p:xfrm>
        <a:graphic>
          <a:graphicData uri="http://schemas.openxmlformats.org/drawingml/2006/table">
            <a:tbl>
              <a:tblPr/>
              <a:tblGrid>
                <a:gridCol w="272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1Kilobytes(KB)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0" cmpd="sng">
                      <a:solidFill>
                        <a:srgbClr val="FFFFFF"/>
                      </a:solidFill>
                      <a:prstDash val="soli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mpd="sng">
                      <a:solidFill>
                        <a:srgbClr val="FFFFFF"/>
                      </a:solidFill>
                      <a:prstDash val="soli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96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10</a:t>
                      </a:r>
                      <a:endParaRPr lang="zh-CN" altLang="en-US" sz="1596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2bytes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1024bytes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mpd="sng">
                      <a:solidFill>
                        <a:srgbClr val="FFFFFF"/>
                      </a:solidFill>
                      <a:prstDash val="soli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1Megabytes(MG)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96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20</a:t>
                      </a:r>
                      <a:endParaRPr lang="zh-CN" altLang="en-US" sz="1596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2bytes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1024KB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1Gegabytes(GB)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96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30</a:t>
                      </a:r>
                      <a:endParaRPr lang="zh-CN" altLang="en-US" sz="1596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2bytes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1024MB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1Terabytes(TB)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D2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96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40</a:t>
                      </a:r>
                      <a:endParaRPr lang="zh-CN" altLang="en-US" sz="1596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2bytes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rgbClr val="000000"/>
                          </a:solidFill>
                          <a:latin typeface="Calibri" pitchFamily="18" charset="0"/>
                          <a:cs typeface="Calibri" pitchFamily="18" charset="0"/>
                        </a:rPr>
                        <a:t>1024GB</a:t>
                      </a:r>
                      <a:endParaRPr lang="zh-CN" altLang="en-US" sz="2400" dirty="0">
                        <a:solidFill>
                          <a:srgbClr val="000000"/>
                        </a:solidFill>
                        <a:latin typeface="Calibri" pitchFamily="18" charset="0"/>
                        <a:cs typeface="Calibri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181100" y="1028700"/>
            <a:ext cx="6591300" cy="685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5400"/>
              </a:lnSpc>
              <a:tabLst/>
            </a:pPr>
            <a:r>
              <a:rPr lang="en-US" altLang="zh-CN" sz="4802" dirty="0">
                <a:solidFill>
                  <a:srgbClr val="000000"/>
                </a:solidFill>
                <a:latin typeface="Garamond" pitchFamily="18" charset="0"/>
                <a:cs typeface="Garamond" pitchFamily="18" charset="0"/>
              </a:rPr>
              <a:t>Digital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000000"/>
                </a:solidFill>
                <a:latin typeface="Garamond" pitchFamily="18" charset="0"/>
                <a:cs typeface="Garamond" pitchFamily="18" charset="0"/>
              </a:rPr>
              <a:t>Data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Representation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092200" y="1866900"/>
            <a:ext cx="8001000" cy="406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200"/>
              </a:lnSpc>
              <a:tabLst/>
            </a:pPr>
            <a:r>
              <a:rPr lang="en-US" altLang="zh-CN" sz="2795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Prefixes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often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used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express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larger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quantities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435100" y="2336800"/>
            <a:ext cx="7480300" cy="1117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bytes: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kilobyte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</a:t>
            </a:r>
            <a:r>
              <a:rPr lang="en-US" altLang="zh-CN" sz="2798" dirty="0">
                <a:solidFill>
                  <a:srgbClr val="C00000"/>
                </a:solidFill>
                <a:latin typeface="Calibri" pitchFamily="18" charset="0"/>
                <a:cs typeface="Calibri" pitchFamily="18" charset="0"/>
              </a:rPr>
              <a:t>KB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),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megabyte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</a:t>
            </a:r>
            <a:r>
              <a:rPr lang="en-US" altLang="zh-CN" sz="2798" dirty="0">
                <a:solidFill>
                  <a:srgbClr val="C00000"/>
                </a:solidFill>
                <a:latin typeface="Calibri" pitchFamily="18" charset="0"/>
                <a:cs typeface="Calibri" pitchFamily="18" charset="0"/>
              </a:rPr>
              <a:t>MB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),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gigabyte</a:t>
            </a:r>
            <a:r>
              <a:rPr lang="en-US" altLang="zh-CN" sz="27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</a:t>
            </a:r>
            <a:r>
              <a:rPr lang="en-US" altLang="zh-CN" sz="2798" dirty="0">
                <a:solidFill>
                  <a:srgbClr val="C00000"/>
                </a:solidFill>
                <a:latin typeface="Calibri" pitchFamily="18" charset="0"/>
                <a:cs typeface="Calibri" pitchFamily="18" charset="0"/>
              </a:rPr>
              <a:t>GB</a:t>
            </a:r>
            <a:r>
              <a:rPr lang="en-US" altLang="zh-CN" sz="27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),</a:t>
            </a:r>
          </a:p>
          <a:p>
            <a:pPr>
              <a:lnSpc>
                <a:spcPts val="3000"/>
              </a:lnSpc>
              <a:tabLst/>
            </a:pP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terabyte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</a:t>
            </a:r>
            <a:r>
              <a:rPr lang="en-US" altLang="zh-CN" sz="2795" dirty="0">
                <a:solidFill>
                  <a:srgbClr val="2683C6"/>
                </a:solidFill>
                <a:latin typeface="Calibri" pitchFamily="18" charset="0"/>
                <a:cs typeface="Calibri" pitchFamily="18" charset="0"/>
              </a:rPr>
              <a:t>TB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),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petabyte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(PB),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exabyte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(EB),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zettabyte</a:t>
            </a:r>
          </a:p>
          <a:p>
            <a:pPr>
              <a:lnSpc>
                <a:spcPts val="3000"/>
              </a:lnSpc>
              <a:tabLst/>
            </a:pP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(ZB),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yottabyte</a:t>
            </a:r>
            <a:r>
              <a:rPr lang="en-US" altLang="zh-CN" sz="27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95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(YB).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42164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Storage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Hierarchy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92200" y="1866900"/>
            <a:ext cx="5016500" cy="34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4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organized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hierarchy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95400" y="2260600"/>
            <a:ext cx="838200" cy="635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Speed</a:t>
            </a:r>
          </a:p>
          <a:p>
            <a:pPr>
              <a:lnSpc>
                <a:spcPts val="27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Cost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295400" y="2959100"/>
            <a:ext cx="11049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Volatility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092200" y="3429000"/>
            <a:ext cx="9994900" cy="34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4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400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Caching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copying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information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into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faster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system;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181100" y="3810000"/>
            <a:ext cx="4953000" cy="3048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400"/>
              </a:lnSpc>
              <a:tabLst/>
            </a:pP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viewed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as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cache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secondary</a:t>
            </a:r>
            <a:r>
              <a:rPr lang="en-US" altLang="zh-CN" sz="24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2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092200" y="4267200"/>
            <a:ext cx="6997700" cy="3429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700"/>
              </a:lnSpc>
              <a:tabLst/>
            </a:pPr>
            <a:r>
              <a:rPr lang="en-US" altLang="zh-CN" sz="24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400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Driver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for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each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controller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manage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I/O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1295400" y="4648200"/>
            <a:ext cx="61087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Provides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uniform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interface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controller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kernel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1358900"/>
            <a:ext cx="5346700" cy="4457700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88900" y="190500"/>
            <a:ext cx="5346700" cy="5334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200"/>
              </a:lnSpc>
              <a:tabLst/>
            </a:pPr>
            <a:r>
              <a:rPr lang="en-US" altLang="zh-CN" sz="4295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Storage-DeviceHierarchy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41656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Storage</a:t>
            </a:r>
            <a:r>
              <a:rPr lang="en-US" altLang="zh-CN" sz="4802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Structure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92200" y="1879600"/>
            <a:ext cx="77724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only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large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media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CPU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access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directly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295400" y="2209800"/>
            <a:ext cx="1549400" cy="5207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596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596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Random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access</a:t>
            </a:r>
          </a:p>
          <a:p>
            <a:pPr>
              <a:lnSpc>
                <a:spcPts val="2300"/>
              </a:lnSpc>
              <a:tabLst/>
            </a:pPr>
            <a:r>
              <a:rPr lang="en-US" altLang="zh-CN" sz="1598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Typically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volatile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092200" y="2921000"/>
            <a:ext cx="91567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Secondary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extension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main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memory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provides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large</a:t>
            </a:r>
            <a:r>
              <a:rPr lang="en-US" altLang="zh-CN" sz="2004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nonvolatile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181100" y="3225800"/>
            <a:ext cx="8509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capacity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092200" y="3644900"/>
            <a:ext cx="86487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Hard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disks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rigid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metal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glass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platters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covered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with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magnetic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recording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material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295400" y="3975100"/>
            <a:ext cx="64643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598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Disk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surface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logically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divided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into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tracks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,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which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are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subdivided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into</a:t>
            </a:r>
            <a:r>
              <a:rPr lang="en-US" altLang="zh-CN" sz="1598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8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sectors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1295400" y="4267200"/>
            <a:ext cx="77597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596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disk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controller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determines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logical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interaction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between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device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</a:p>
        </p:txBody>
      </p:sp>
      <p:sp>
        <p:nvSpPr>
          <p:cNvPr id="14" name="TextBox 1"/>
          <p:cNvSpPr txBox="1"/>
          <p:nvPr/>
        </p:nvSpPr>
        <p:spPr>
          <a:xfrm>
            <a:off x="1092200" y="4686300"/>
            <a:ext cx="56134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Solid-state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b="1" dirty="0">
                <a:solidFill>
                  <a:srgbClr val="3366FF"/>
                </a:solidFill>
                <a:latin typeface="Calibri" pitchFamily="18" charset="0"/>
                <a:cs typeface="Calibri" pitchFamily="18" charset="0"/>
              </a:rPr>
              <a:t>disks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–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faster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hard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disks,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nonvolatile</a:t>
            </a:r>
          </a:p>
        </p:txBody>
      </p:sp>
      <p:sp>
        <p:nvSpPr>
          <p:cNvPr id="15" name="TextBox 1"/>
          <p:cNvSpPr txBox="1"/>
          <p:nvPr/>
        </p:nvSpPr>
        <p:spPr>
          <a:xfrm>
            <a:off x="1295400" y="5016500"/>
            <a:ext cx="18796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596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Various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technologies</a:t>
            </a:r>
          </a:p>
        </p:txBody>
      </p:sp>
      <p:sp>
        <p:nvSpPr>
          <p:cNvPr id="16" name="TextBox 1"/>
          <p:cNvSpPr txBox="1"/>
          <p:nvPr/>
        </p:nvSpPr>
        <p:spPr>
          <a:xfrm>
            <a:off x="1295400" y="5308600"/>
            <a:ext cx="2159000" cy="228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1800"/>
              </a:lnSpc>
              <a:tabLst/>
            </a:pPr>
            <a:r>
              <a:rPr lang="en-US" altLang="zh-CN" sz="1596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Becoming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more</a:t>
            </a:r>
            <a:r>
              <a:rPr lang="en-US" altLang="zh-CN" sz="159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596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popular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7999 h 6858000"/>
              <a:gd name="connsiteX1" fmla="*/ 12192000 w 12192000"/>
              <a:gd name="connsiteY1" fmla="*/ 6857999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  <a:gd name="connsiteX4" fmla="*/ 0 w 12192000"/>
              <a:gd name="connsiteY4" fmla="*/ 6857999 h 68580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6857999"/>
                </a:moveTo>
                <a:lnTo>
                  <a:pt x="12192000" y="6857999"/>
                </a:lnTo>
                <a:lnTo>
                  <a:pt x="12192000" y="0"/>
                </a:lnTo>
                <a:lnTo>
                  <a:pt x="0" y="0"/>
                </a:lnTo>
                <a:lnTo>
                  <a:pt x="0" y="6857999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3047" y="6400799"/>
            <a:ext cx="12188952" cy="444500"/>
          </a:xfrm>
          <a:custGeom>
            <a:avLst/>
            <a:gdLst>
              <a:gd name="connsiteX0" fmla="*/ 0 w 12188952"/>
              <a:gd name="connsiteY0" fmla="*/ 0 h 444500"/>
              <a:gd name="connsiteX1" fmla="*/ 12188952 w 12188952"/>
              <a:gd name="connsiteY1" fmla="*/ 0 h 444500"/>
              <a:gd name="connsiteX2" fmla="*/ 12188952 w 12188952"/>
              <a:gd name="connsiteY2" fmla="*/ 444500 h 444500"/>
              <a:gd name="connsiteX3" fmla="*/ 0 w 12188952"/>
              <a:gd name="connsiteY3" fmla="*/ 444500 h 444500"/>
              <a:gd name="connsiteX4" fmla="*/ 0 w 12188952"/>
              <a:gd name="connsiteY4" fmla="*/ 0 h 444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444500">
                <a:moveTo>
                  <a:pt x="0" y="0"/>
                </a:moveTo>
                <a:lnTo>
                  <a:pt x="12188952" y="0"/>
                </a:lnTo>
                <a:lnTo>
                  <a:pt x="12188952" y="444500"/>
                </a:lnTo>
                <a:lnTo>
                  <a:pt x="0" y="444500"/>
                </a:lnTo>
                <a:lnTo>
                  <a:pt x="0" y="0"/>
                </a:lnTo>
              </a:path>
            </a:pathLst>
          </a:custGeom>
          <a:solidFill>
            <a:srgbClr val="2683C6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3"/>
          <p:cNvSpPr/>
          <p:nvPr/>
        </p:nvSpPr>
        <p:spPr>
          <a:xfrm>
            <a:off x="0" y="6333744"/>
            <a:ext cx="12188952" cy="64008"/>
          </a:xfrm>
          <a:custGeom>
            <a:avLst/>
            <a:gdLst>
              <a:gd name="connsiteX0" fmla="*/ 0 w 12188952"/>
              <a:gd name="connsiteY0" fmla="*/ 64008 h 64008"/>
              <a:gd name="connsiteX1" fmla="*/ 12188952 w 12188952"/>
              <a:gd name="connsiteY1" fmla="*/ 64008 h 64008"/>
              <a:gd name="connsiteX2" fmla="*/ 12188952 w 12188952"/>
              <a:gd name="connsiteY2" fmla="*/ 0 h 64008"/>
              <a:gd name="connsiteX3" fmla="*/ 0 w 12188952"/>
              <a:gd name="connsiteY3" fmla="*/ 0 h 64008"/>
              <a:gd name="connsiteX4" fmla="*/ 0 w 12188952"/>
              <a:gd name="connsiteY4" fmla="*/ 64008 h 64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12188952" h="64008">
                <a:moveTo>
                  <a:pt x="0" y="64008"/>
                </a:moveTo>
                <a:lnTo>
                  <a:pt x="12188952" y="64008"/>
                </a:lnTo>
                <a:lnTo>
                  <a:pt x="12188952" y="0"/>
                </a:lnTo>
                <a:lnTo>
                  <a:pt x="0" y="0"/>
                </a:lnTo>
                <a:lnTo>
                  <a:pt x="0" y="64008"/>
                </a:lnTo>
              </a:path>
            </a:pathLst>
          </a:custGeom>
          <a:solidFill>
            <a:srgbClr val="1CADE4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3"/>
          <p:cNvSpPr/>
          <p:nvPr/>
        </p:nvSpPr>
        <p:spPr>
          <a:xfrm>
            <a:off x="1186941" y="1731010"/>
            <a:ext cx="9979659" cy="18796"/>
          </a:xfrm>
          <a:custGeom>
            <a:avLst/>
            <a:gdLst>
              <a:gd name="connsiteX0" fmla="*/ 6350 w 9979659"/>
              <a:gd name="connsiteY0" fmla="*/ 6350 h 18796"/>
              <a:gd name="connsiteX1" fmla="*/ 9973310 w 9979659"/>
              <a:gd name="connsiteY1" fmla="*/ 6350 h 1879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</a:cxnLst>
            <a:rect l="l" t="t" r="r" b="b"/>
            <a:pathLst>
              <a:path w="9979659" h="18796">
                <a:moveTo>
                  <a:pt x="6350" y="6350"/>
                </a:moveTo>
                <a:lnTo>
                  <a:pt x="9973310" y="6350"/>
                </a:lnTo>
              </a:path>
            </a:pathLst>
          </a:custGeom>
          <a:ln w="12700">
            <a:solidFill>
              <a:srgbClr val="7F7F7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81100" y="1092200"/>
            <a:ext cx="1879600" cy="609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800"/>
              </a:lnSpc>
              <a:tabLst/>
            </a:pPr>
            <a:r>
              <a:rPr lang="en-US" altLang="zh-CN" sz="4802" dirty="0">
                <a:solidFill>
                  <a:srgbClr val="404040"/>
                </a:solidFill>
                <a:latin typeface="Calibri Light" pitchFamily="18" charset="0"/>
                <a:cs typeface="Calibri Light" pitchFamily="18" charset="0"/>
              </a:rPr>
              <a:t>Caching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1092200" y="1879600"/>
            <a:ext cx="97663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Important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principle,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performed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many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levels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computer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(in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hardware,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operating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system,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1181100" y="2184400"/>
            <a:ext cx="977900" cy="2540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software)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1092200" y="2616200"/>
            <a:ext cx="7531100" cy="7366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Information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copied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slower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faster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temporarily</a:t>
            </a:r>
          </a:p>
          <a:p>
            <a:pPr>
              <a:lnSpc>
                <a:spcPts val="1000"/>
              </a:lnSpc>
            </a:pPr>
            <a:endParaRPr lang="en-US" altLang="zh-CN" dirty="0"/>
          </a:p>
          <a:p>
            <a:pPr>
              <a:lnSpc>
                <a:spcPts val="25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Faster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(cache)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checked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first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determine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if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information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there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1295400" y="3390900"/>
            <a:ext cx="5105400" cy="584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is,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information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directly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from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cache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(fast)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If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not,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data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copied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to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cache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used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there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092200" y="4152900"/>
            <a:ext cx="4406900" cy="2921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300"/>
              </a:lnSpc>
              <a:tabLst/>
            </a:pPr>
            <a:r>
              <a:rPr lang="en-US" altLang="zh-CN" sz="2004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Cache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smaller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than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storage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being</a:t>
            </a:r>
            <a:r>
              <a:rPr lang="en-US" altLang="zh-CN" sz="20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004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cached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1295400" y="4495800"/>
            <a:ext cx="4508500" cy="584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Cache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management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important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design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problem</a:t>
            </a:r>
          </a:p>
          <a:p>
            <a:pPr>
              <a:lnSpc>
                <a:spcPts val="2500"/>
              </a:lnSpc>
              <a:tabLst/>
            </a:pPr>
            <a:r>
              <a:rPr lang="en-US" altLang="zh-CN" sz="1800" dirty="0">
                <a:solidFill>
                  <a:srgbClr val="1CADE4"/>
                </a:solidFill>
                <a:latin typeface="Wingdings" pitchFamily="18" charset="0"/>
                <a:cs typeface="Wingdings" pitchFamily="18" charset="0"/>
              </a:rPr>
              <a:t>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Cache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size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and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replacement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>
                <a:solidFill>
                  <a:srgbClr val="404040"/>
                </a:solidFill>
                <a:latin typeface="Calibri" pitchFamily="18" charset="0"/>
                <a:cs typeface="Calibri" pitchFamily="18" charset="0"/>
              </a:rPr>
              <a:t>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2451</Words>
  <Application>Microsoft Office PowerPoint</Application>
  <PresentationFormat>Widescreen</PresentationFormat>
  <Paragraphs>513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MS PGothic</vt:lpstr>
      <vt:lpstr>Arial</vt:lpstr>
      <vt:lpstr>Calibri</vt:lpstr>
      <vt:lpstr>Calibri Light</vt:lpstr>
      <vt:lpstr>Garamond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Howida Yousry Abdel Naby</cp:lastModifiedBy>
  <cp:revision>5</cp:revision>
  <dcterms:created xsi:type="dcterms:W3CDTF">2006-08-16T00:00:00Z</dcterms:created>
  <dcterms:modified xsi:type="dcterms:W3CDTF">2021-12-24T22:51:30Z</dcterms:modified>
</cp:coreProperties>
</file>